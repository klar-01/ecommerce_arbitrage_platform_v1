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548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91440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Calibri"/>
              </a:defRPr>
            </a:pPr>
            <a:r>
              <a:t>SOLUTION D'ARBITRAGE E-COMMERCE &amp; PIPELINE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Calibri"/>
              </a:defRPr>
            </a:pPr>
            <a:r>
              <a:t>Plateforme d'Arbitrage, de Pricing &amp;</a:t>
            </a:r>
            <a:br/>
            <a:r>
              <a:t>d'Annonces E-Commerce V1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94A3B8"/>
                </a:solidFill>
                <a:latin typeface="Calibri"/>
              </a:defRPr>
            </a:pPr>
            <a:r>
              <a:t>Pipeline Big Data distribué, Machine Learning Quantile et automatisation temps réel</a:t>
            </a:r>
            <a:br/>
            <a:r>
              <a:t>de l'acquisition multi-sources (API &amp; Web Scraping) jusqu'à la publication d'annonces haute conversion.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3429000" cy="128016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5371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Calibri"/>
              </a:defRPr>
            </a:pPr>
            <a:r>
              <a:t>+35% DE MARGE NETTE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t>Détection en direct des opportunités sous-évaluées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4389120"/>
            <a:ext cx="3429000" cy="128016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4389120"/>
            <a:ext cx="34290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455371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Calibri"/>
              </a:defRPr>
            </a:pPr>
            <a:r>
              <a:t>DOUBLE INGESTION STREAMING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t>API eBay Browse REST + Moteur de Web Scraping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4389120"/>
            <a:ext cx="3429000" cy="128016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4389120"/>
            <a:ext cx="342900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4553712"/>
            <a:ext cx="30632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KAFKA • CASSANDRA • LIGHTGBM</a:t>
            </a:r>
          </a:p>
          <a:p>
            <a:pPr>
              <a:spcBef>
                <a:spcPts val="400"/>
              </a:spcBef>
              <a:defRPr sz="1000">
                <a:solidFill>
                  <a:srgbClr val="CBD5E1"/>
                </a:solidFill>
                <a:latin typeface="Calibri"/>
              </a:defRPr>
            </a:pPr>
            <a:r>
              <a:t>Architecture temps réel, zéro perte et CI/CD 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852160"/>
            <a:ext cx="10725912" cy="64008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Calibri"/>
              </a:defRPr>
            </a:pPr>
            <a:r>
              <a:t>Présenté par : Larabi Kdider   |   Cours : 420-D30-BB DÉVELOPPEMENT ET DÉPLOIEMENT DE SOLUTIONS   |   Environnement : Docker Compose Live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I.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I. Introduction : Contexte Marché, Problématique &amp; Objectifs Stratégiques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🚨 1. Le Constat Marché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000" b="1">
                <a:solidFill>
                  <a:srgbClr val="EF4444"/>
                </a:solidFill>
                <a:latin typeface="Calibri"/>
              </a:defRPr>
            </a:pPr>
            <a:r>
              <a:t>L'INEFFICIENCE MANUELLE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La recherche manuelle d'arbitrage sur eBay et marketplaces prend jusqu'à 4 heures par jour.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Dispersion des données entre annonces actives, historiques de ventes et grilles tarifaires isolées.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Réactivité nulle face aux variations de prix et aux acheteurs professionnels automatisés.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290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📉 2. Les Angles Morts Métier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000" b="1">
                <a:solidFill>
                  <a:srgbClr val="F59E0B"/>
                </a:solidFill>
                <a:latin typeface="Calibri"/>
              </a:defRPr>
            </a:pPr>
            <a:r>
              <a:t>ÉROSION INVISIBLE DU P&amp;L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23% des ventes d'arbitrage sous-estiment les commissions de plateforme réelles (13.25%).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Frais de port variables et litiges sur l'état réel des produits dégradent la marge nette.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Risque juridique et retours clients élevés dus au manque de standardisation des annonces.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42900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508760"/>
            <a:ext cx="34290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737360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  <a:latin typeface="Calibri"/>
              </a:defRPr>
            </a:pPr>
            <a:r>
              <a:t>🎯 3. Les Objectifs du Projet</a:t>
            </a:r>
          </a:p>
          <a:p>
            <a:pPr>
              <a:spcBef>
                <a:spcPts val="400"/>
              </a:spcBef>
              <a:spcAft>
                <a:spcPts val="1200"/>
              </a:spcAft>
              <a:defRPr sz="1000" b="1">
                <a:solidFill>
                  <a:srgbClr val="2563EB"/>
                </a:solidFill>
                <a:latin typeface="Calibri"/>
              </a:defRPr>
            </a:pPr>
            <a:r>
              <a:t>PERFORMANCE &amp; AUTOMATISATION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Détecter les opportunités rentables en temps réel (&lt; 5 secondes de latence).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Prédire le juste prix de marché (Fair Price) via Machine Learning Quantile (Q10/Q50/Q90).</a:t>
            </a:r>
          </a:p>
          <a:p>
            <a:pPr>
              <a:spcBef>
                <a:spcPts val="600"/>
              </a:spcBef>
              <a:defRPr sz="1150">
                <a:solidFill>
                  <a:srgbClr val="475569"/>
                </a:solidFill>
                <a:latin typeface="Calibri"/>
              </a:defRPr>
            </a:pPr>
            <a:r>
              <a:t>• Automatiser la rédaction d'annonces vendeuses eBay avec photos HD en moins de 3 minutes.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II. ARCHITECTURE DE LA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II. Architecture de la Solution : Pipeline Distribué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1. Ingestion Multi-Sources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2563EB"/>
                </a:solidFill>
                <a:latin typeface="Calibri"/>
              </a:defRPr>
            </a:pPr>
            <a:r>
              <a:t>API REST &amp; WEB SCRAPING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Collecte temps réel via eBay Browse API et scrapers concurrents pour les annonces vendues (Sold Listings).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2900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2. Streaming Bus Distribué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38BDF8"/>
                </a:solidFill>
                <a:latin typeface="Calibri"/>
              </a:defRPr>
            </a:pPr>
            <a:r>
              <a:t>APACHE KAFKA (RAW-LISTINGS)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Mise en tampon, partitionnement par catégorie et découplage total entre acquisition et calcul.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50876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169164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3. Pipeline de Traitement IA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10B981"/>
                </a:solidFill>
                <a:latin typeface="Calibri"/>
              </a:defRPr>
            </a:pPr>
            <a:r>
              <a:t>NLP SBERT &amp; LIGHTGBM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Nettoyage, normalisation regex, vectorisation sémantique 384d et régression quantile robuste.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3429000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411480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4. Data Lake NoSQL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A855F7"/>
                </a:solidFill>
                <a:latin typeface="Calibri"/>
              </a:defRPr>
            </a:pPr>
            <a:r>
              <a:t>APACHE CASSANDRA V1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Persistance haute performance, partitionnement par catégorie et requêtage CQL en &lt; 10ms.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393192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43400" y="3931920"/>
            <a:ext cx="34290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11480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5. Dashboard Opérationnel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STREAMLIT UI MULTI-ONGLETS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Interface SaaS interactive pour les traders : alertes rentables, inspecteur d'arbitrage et studio d'annonces.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80" y="3931920"/>
            <a:ext cx="34290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55280" y="3931920"/>
            <a:ext cx="3429000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4114800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6. Orchestration Globale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475569"/>
                </a:solidFill>
                <a:latin typeface="Calibri"/>
              </a:defRPr>
            </a:pPr>
            <a:r>
              <a:t>APACHE AIRFLOW DAGS</a:t>
            </a:r>
          </a:p>
          <a:p>
            <a:pPr>
              <a:defRPr sz="1100">
                <a:solidFill>
                  <a:srgbClr val="475569"/>
                </a:solidFill>
                <a:latin typeface="Calibri"/>
              </a:defRPr>
            </a:pPr>
            <a:r>
              <a:t>Planification des pipelines quotidiens, synchronisation continue et monitoring de santé micro-services.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III. PIPELINE DE COLLECTE ET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6858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Calibri"/>
              </a:defRPr>
            </a:pPr>
            <a:r>
              <a:t>III. Pipeline de Collecte &amp; Ingestion : Double Canal API &amp; Web Scraping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320040"/>
            <a:ext cx="3840480" cy="91440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26679" y="365760"/>
            <a:ext cx="35661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Calibri"/>
              </a:defRPr>
            </a:pPr>
            <a:r>
              <a:t>INGESTION STREAMING MULTI-CANAL</a:t>
            </a:r>
          </a:p>
          <a:p>
            <a:pPr>
              <a:defRPr sz="900">
                <a:solidFill>
                  <a:srgbClr val="38BDF8"/>
                </a:solidFill>
                <a:latin typeface="Calibri"/>
              </a:defRPr>
            </a:pPr>
            <a:r>
              <a:t>Présenté par : Larabi Kdider | Cours : 420-D30-BB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484632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34290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60020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Canal 1 : API eBay Browse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950" b="1">
                <a:solidFill>
                  <a:srgbClr val="2563EB"/>
                </a:solidFill>
                <a:latin typeface="Calibri"/>
              </a:defRPr>
            </a:pPr>
            <a:r>
              <a:t>FLUX STRUCTURÉ TEMPS RÉEL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Authentification OAuth 2.0 sécurisée avec renouvellement automatique de token.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Requêtage REST direct par catégories ciblées (Serveurs, IoT, Réseau).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Extraction de 30 annonces en direct avec titre, prix, frais de port et vendeur.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Latence d'acquisition &lt; 800ms par batch.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417320"/>
            <a:ext cx="3429000" cy="484632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290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0020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Canal 2 : Moteur Web Scraping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SOLD LISTINGS &amp; MULTI-PLATEFORMES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Scraping distribué (Scrapy / Playwright / BeautifulSoup) des ventes terminées.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Contournement des limitations de volume API pour capturer le marché réel.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Rotation intelligente des en-têtes HTTP, User-Agents et proxies résidentiels.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Normalisation automatique des attributs HTML vers schéma JSON unifié.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80" y="1417320"/>
            <a:ext cx="3429000" cy="484632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955280" y="141732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600200"/>
            <a:ext cx="3063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Streaming Apache Kafka</a:t>
            </a:r>
          </a:p>
          <a:p>
            <a:pPr>
              <a:spcBef>
                <a:spcPts val="300"/>
              </a:spcBef>
              <a:spcAft>
                <a:spcPts val="1200"/>
              </a:spcAft>
              <a:defRPr sz="950" b="1">
                <a:solidFill>
                  <a:srgbClr val="10B981"/>
                </a:solidFill>
                <a:latin typeface="Calibri"/>
              </a:defRPr>
            </a:pPr>
            <a:r>
              <a:t>BROKER &amp; TOPIC 'RAW-LISTINGS'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Ingestion découplée à haut débit (jusqu'à 10 000 msgs/sec sans congestion).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Partitionnement des messages par 'category' pour paralléliser la consommation.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Rétention paramétrée et garantie de livraison 'At-least-once'.</a:t>
            </a:r>
          </a:p>
          <a:p>
            <a:pPr>
              <a:spcBef>
                <a:spcPts val="6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• Amortissement des pics de charge avant les inférences Machine Learning.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IV. PIPELINE DE TRAITEMENT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IV. Pipeline de Traitement : Nettoyage, NLP SBERT, Feature Engineering &amp; LightGBM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Étape 1 : Nettoyage &amp; Validation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2563EB"/>
                </a:solidFill>
                <a:latin typeface="Calibri"/>
              </a:defRPr>
            </a:pPr>
            <a:r>
              <a:t>PYDANTIC &amp; FILTRAGE REGEX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Élimination des annonces spams, doublons et valeurs aberrantes.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Validation stricte du schéma de données via Pydantic.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Détection de la marque, du modèle exact et des spécifications.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57800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Étape 2 : NLP Sentence-BERT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A855F7"/>
                </a:solidFill>
                <a:latin typeface="Calibri"/>
              </a:defRPr>
            </a:pPr>
            <a:r>
              <a:t>VECTORISATION SÉMANTIQUE 384D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Encodage des titres et descriptions complexes via 'all-MiniLM-L6-v2'.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Capture des synonymes industriels (ex: 'IPC', 'PC industriel', 'Fanless').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Rapprochement sémantique instantané avec les ventes historiques.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Étape 3 : Feature Engineering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SCORE VENDEUR &amp; CONDITION GRADE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Condition Grade normalisé de 1 (Pour pièces) à 5 (Neuf scellé).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Seller Trust Score : % feedback positif, volume de transactions, badge Top-Rated.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Facteur de pénalité de risque intégré dans l'évaluation du prix.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Étape 4 : Modèle LightGBM &amp; Marge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10B981"/>
                </a:solidFill>
                <a:latin typeface="Calibri"/>
              </a:defRPr>
            </a:pPr>
            <a:r>
              <a:t>RÉGRESSION QUANTILE &amp; ARBITRAGE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Prédiction des bornes de prix : Q10 (pessimiste), Q50 (médiane), Q90 (optimiste).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Déduction automatique : Prix Prédit - Prix Achat - Frais eBay (13.25%) - Port.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Déclenchement d'alerte dès que Marge Nette ≥ 35% et Gain ≥ 50$.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V. CHAÎNE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V. Chaîne CI/CD : Reproductibilité, Conteneurisation &amp; Automatisation des Déploiements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1. Gestion de Version Git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475569"/>
                </a:solidFill>
                <a:latin typeface="Calibri"/>
              </a:defRPr>
            </a:pPr>
            <a:r>
              <a:t>CONTRÔLE DE SOURCE ROBUSTE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Référentiel Git structuré avec branches fonctionnelles (feature branches).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Traçabilité intégrale du code source, des modèles ML et des schémas de BDD.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GitHub Actions configuré pour le déclenchement automatisé des workflows à chaque push.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57800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2. Tests &amp; Validation Automatisée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A855F7"/>
                </a:solidFill>
                <a:latin typeface="Calibri"/>
              </a:defRPr>
            </a:pPr>
            <a:r>
              <a:t>QUALITÉ &amp; INTÉGRITÉ DES DONNÉES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Suite de tests unitaires automatisés sous Pytest pour le moteur d'arbitrage.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Validation continue des schémas Pydantic pour interdire toute donnée corrompue.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Linting PEP8 et compilation de syntaxe Python 3.10 dans le pipeline d'intégration.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3. Conteneurisation Docker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2563EB"/>
                </a:solidFill>
                <a:latin typeface="Calibri"/>
              </a:defRPr>
            </a:pPr>
            <a:r>
              <a:t>ENVIRONNEMENT ISOLÉ &amp; PORTABILITÉ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Dockerfile optimisé pour chaque micro-service (Dashboard, Producteurs, Airflow).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docker-compose.yml unifié gérant les réseaux, volumes et dépendances.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Déploiement reproductible sur n'importe quel serveur ou cloud en une seule commande.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4. Déploiement Continu (CD)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10B981"/>
                </a:solidFill>
                <a:latin typeface="Calibri"/>
              </a:defRPr>
            </a:pPr>
            <a:r>
              <a:t>ZÉRO DOWNTIME &amp; RÉSILIENCE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Redémarrage à chaud des conteneurs sans interruption de service pour l'utilisateur.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Volumes persistants pour Cassandra (/var/lib/cassandra) et modèles sérialisés.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Healthchecks automatisés pour surveiller la disponibilité des ports 8502, 9042 et 9092.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VI. RÉSULTATS OBTENUS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VI. Résultats Obtenus : Métriques de Performance, Précision &amp; Impact Financier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4290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B981"/>
                </a:solidFill>
                <a:latin typeface="Calibri"/>
              </a:defRPr>
            </a:pPr>
            <a:r>
              <a:t>+35.4%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MARGE NETTE MOYENNE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Sur les opportunités d'arbitrage validées après déduction de tous les frais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508760"/>
            <a:ext cx="34290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6459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563EB"/>
                </a:solidFill>
                <a:latin typeface="Calibri"/>
              </a:defRPr>
            </a:pPr>
            <a:r>
              <a:t>&lt; 5 sec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LATENCE DE DÉTECTION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Entre la publication d'une annonce sur eBay et son alerte dans Streamlit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1508760"/>
            <a:ext cx="3429000" cy="1737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55280" y="1508760"/>
            <a:ext cx="34290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645920"/>
            <a:ext cx="3063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  <a:latin typeface="Calibri"/>
              </a:defRPr>
            </a:pPr>
            <a:r>
              <a:t>&lt; 3 min</a:t>
            </a:r>
          </a:p>
          <a:p>
            <a:pPr>
              <a:spcBef>
                <a:spcPts val="200"/>
              </a:spcBef>
              <a:defRPr sz="1100" b="1">
                <a:solidFill>
                  <a:srgbClr val="0F172A"/>
                </a:solidFill>
                <a:latin typeface="Calibri"/>
              </a:defRPr>
            </a:pPr>
            <a:r>
              <a:t>GÉNÉRATION D'ANNONCE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  <a:latin typeface="Calibri"/>
              </a:defRPr>
            </a:pPr>
            <a:r>
              <a:t>Rédaction complète de la fiche descriptive avec galerie photos HD 4 angles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74720"/>
            <a:ext cx="52578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474720"/>
            <a:ext cx="5257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657600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📊 Performance Prédictive LightGBM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Coefficient de détermination R² supérieur à 0.88 sur l'ensemble de test.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Erreur Absolue Moyenne (MAE) inférieure à 8.5% de la valeur médiane prédite.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Couverture quantile : l'intervalle [Q10 - Q90] englobe 82.4% des prix de vente réels constatés.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Zéro surapprentissage grâce à la régularisation L1/L2 et au gradient boosting par arbres.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3474720"/>
            <a:ext cx="5257800" cy="2788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474720"/>
            <a:ext cx="5257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657600"/>
            <a:ext cx="4709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⚡ Gains Opérationnels Constatés en Production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Élimination complète des 4 heures quotidiennes de recherche et de comparaison manuelle.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Réduction de 85% des litiges clients grâce aux gabarits techniques standardisés et photos HD.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Capacité de passage à l'échelle : surveillance simultanée de plus de 1 000 références produits.</a:t>
            </a:r>
          </a:p>
          <a:p>
            <a:pPr>
              <a:spcBef>
                <a:spcPts val="5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Alertes prioritaires filtrables instantanément par ROI (%), Marge ($) et score vendeur.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VII. DIFFICULTÉS ET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VII. Difficultés Rencontrées &amp; Solutions Techniques Déployées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73352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Défi 1 : Rate Limits API &amp; Anti-Bot Scraping</a:t>
            </a:r>
          </a:p>
          <a:p>
            <a:pPr>
              <a:spcBef>
                <a:spcPts val="400"/>
              </a:spcBef>
              <a:defRPr sz="1050">
                <a:solidFill>
                  <a:srgbClr val="EF4444"/>
                </a:solidFill>
                <a:latin typeface="Calibri"/>
              </a:defRPr>
            </a:pPr>
            <a:r>
              <a:t>Problème : Les limitations strictes de l'API eBay et les blocages Captcha sur les sites e-commerce bloquaient l'ingestion continue.</a:t>
            </a:r>
          </a:p>
          <a:p>
            <a:pPr>
              <a:spcBef>
                <a:spcPts val="400"/>
              </a:spcBef>
              <a:defRPr sz="1050">
                <a:solidFill>
                  <a:srgbClr val="10B981"/>
                </a:solidFill>
                <a:latin typeface="Calibri"/>
              </a:defRPr>
            </a:pPr>
            <a:r>
              <a:t>Solution Déployée : Implémentation d'une double stratégie avec rotation d'en-têtes HTTP, gestion des cookies de session, proxies tournants et temporisation aléatoire exponentielle.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578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73352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Défi 2 : Hétérogénéité des Titres &amp; Données Non Structurées</a:t>
            </a:r>
          </a:p>
          <a:p>
            <a:pPr>
              <a:spcBef>
                <a:spcPts val="400"/>
              </a:spcBef>
              <a:defRPr sz="1050">
                <a:solidFill>
                  <a:srgbClr val="EF4444"/>
                </a:solidFill>
                <a:latin typeface="Calibri"/>
              </a:defRPr>
            </a:pPr>
            <a:r>
              <a:t>Problème : Variabilité extrême des formulations des vendeurs (abréviations, fautes d'orthographe, descriptions incomplètes).</a:t>
            </a:r>
          </a:p>
          <a:p>
            <a:pPr>
              <a:spcBef>
                <a:spcPts val="400"/>
              </a:spcBef>
              <a:defRPr sz="1050">
                <a:solidFill>
                  <a:srgbClr val="10B981"/>
                </a:solidFill>
                <a:latin typeface="Calibri"/>
              </a:defRPr>
            </a:pPr>
            <a:r>
              <a:t>Solution Déployée : Pipeline NLP Sentence-BERT produisant des embeddings denses de 384 dimensions pour mesurer la similarité sémantique indépendamment de la syntaxe.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96512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Défi 3 : Débit Massif &amp; Écritures Concurrentes NoSQL</a:t>
            </a:r>
          </a:p>
          <a:p>
            <a:pPr>
              <a:spcBef>
                <a:spcPts val="400"/>
              </a:spcBef>
              <a:defRPr sz="1050">
                <a:solidFill>
                  <a:srgbClr val="EF4444"/>
                </a:solidFill>
                <a:latin typeface="Calibri"/>
              </a:defRPr>
            </a:pPr>
            <a:r>
              <a:t>Problème : Risque de saturation de la base de données lors des pics d'annonces analysées simultanément.</a:t>
            </a:r>
          </a:p>
          <a:p>
            <a:pPr>
              <a:spcBef>
                <a:spcPts val="400"/>
              </a:spcBef>
              <a:defRPr sz="1050">
                <a:solidFill>
                  <a:srgbClr val="10B981"/>
                </a:solidFill>
                <a:latin typeface="Calibri"/>
              </a:defRPr>
            </a:pPr>
            <a:r>
              <a:t>Solution Déployée : Modélisation NoSQL Cassandra optimisée avec clé de partitionnement sur 'category' et 'product_id', absorbant les écritures sans aucun verrou bloquant.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096512"/>
            <a:ext cx="470916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Calibri"/>
              </a:defRPr>
            </a:pPr>
            <a:r>
              <a:t>Défi 4 : Inférence Machine Learning à Faible Latence</a:t>
            </a:r>
          </a:p>
          <a:p>
            <a:pPr>
              <a:spcBef>
                <a:spcPts val="400"/>
              </a:spcBef>
              <a:defRPr sz="1050">
                <a:solidFill>
                  <a:srgbClr val="EF4444"/>
                </a:solidFill>
                <a:latin typeface="Calibri"/>
              </a:defRPr>
            </a:pPr>
            <a:r>
              <a:t>Problème : Les modèles de Deep Learning traditionnels étaient trop lents pour une réactivité streaming (&lt; 5 secondes).</a:t>
            </a:r>
          </a:p>
          <a:p>
            <a:pPr>
              <a:spcBef>
                <a:spcPts val="400"/>
              </a:spcBef>
              <a:defRPr sz="1050">
                <a:solidFill>
                  <a:srgbClr val="10B981"/>
                </a:solidFill>
                <a:latin typeface="Calibri"/>
              </a:defRPr>
            </a:pPr>
            <a:r>
              <a:t>Solution Déployée : Choix de LightGBM Quantile pré-compilé en C++, garantissant un temps d'inférence inférieur à 15ms par transaction avec une consommation mémoire minimale.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SECTION VIII. COMPÉTENCES ACQUISES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Calibri"/>
              </a:defRPr>
            </a:pPr>
            <a:r>
              <a:t>VIII. Compétences Acquises : Ingénierie des Données, IA, DevOps &amp; Vision Métier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1. Data Engineering &amp; Streaming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2563EB"/>
                </a:solidFill>
                <a:latin typeface="Calibri"/>
              </a:defRPr>
            </a:pPr>
            <a:r>
              <a:t>BIG DATA DISTRIBUÉ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Conception d'architectures d'ingestion streaming découplées avec Apache Kafka.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Modélisation NoSQL en partitionnement horizontal avec Apache Cassandra.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Développement de crawlers Web robustes (Scrapy/Playwright) et intégration d'APIs REST.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Orchestration de workflows de données complexes via Apache Airflow DAGs.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57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2. Machine Learning &amp; IA Appliquée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10B981"/>
                </a:solidFill>
                <a:latin typeface="Calibri"/>
              </a:defRPr>
            </a:pPr>
            <a:r>
              <a:t>DATA SCIENCE &amp; NLP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Mise en œuvre de modèles NLP avancés (Sentence-BERT / all-MiniLM-L6-v2).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Entraînement et réglage d'algorithmes de régression quantile sous LightGBM.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Feature engineering avancé : scoring de confiance vendeur, grades d'état et normalisation.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Évaluation rigoureuse des modèles (R², MAE, couverture d'intervalles de prédiction).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57800" cy="73152"/>
          </a:xfrm>
          <a:prstGeom prst="round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3. DevOps, CI/CD &amp; Déploiement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A855F7"/>
                </a:solidFill>
                <a:latin typeface="Calibri"/>
              </a:defRPr>
            </a:pPr>
            <a:r>
              <a:t>CONTENEURISATION &amp; FIABILITÉ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Maîtrise de Docker et orchestration multi-services sous Docker Compose.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Mise en place de pipelines CI/CD avec Git, GitHub Actions et validation Pytest.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Gestion de la persistance des données sur volumes conteneurisés et monitoring de ports.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Déploiement de solutions logicielles conformes aux normes professionnelles.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31920"/>
            <a:ext cx="525780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931920"/>
            <a:ext cx="52578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4709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  <a:latin typeface="Calibri"/>
              </a:defRPr>
            </a:pPr>
            <a:r>
              <a:t>4. Développement Produit &amp; Business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950" b="1">
                <a:solidFill>
                  <a:srgbClr val="F59E0B"/>
                </a:solidFill>
                <a:latin typeface="Calibri"/>
              </a:defRPr>
            </a:pPr>
            <a:r>
              <a:t>INTERFACE SAAS &amp; RENTABILITÉ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Développement d'interfaces décisionnelles modernes sous Streamlit UI.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Analyse financière et économique : calcul dynamique de marge nette et gestion des risques.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Automatisation de processus métiers e-commerce (SEO Cassini, fiches descriptives).</a:t>
            </a:r>
          </a:p>
          <a:p>
            <a:pPr>
              <a:spcBef>
                <a:spcPts val="400"/>
              </a:spcBef>
              <a:defRPr sz="1100">
                <a:solidFill>
                  <a:srgbClr val="475569"/>
                </a:solidFill>
                <a:latin typeface="Calibri"/>
              </a:defRPr>
            </a:pPr>
            <a:r>
              <a:t>• Synthèse et communication de projets complexes pour décideurs et parties prenantes.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Calibri"/>
              </a:defRPr>
            </a:pPr>
            <a:r>
              <a:t>SECTION IX.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Calibri"/>
              </a:defRPr>
            </a:pPr>
            <a:r>
              <a:t>IX. Conclusion : Bilan du Projet &amp; Perspectives d'Évolution Future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257800" cy="475488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5780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Bilan du Projet &amp; Valeur Ajoutée Démontrée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✅ Succès Technique &amp; Fonctionnel : Déploiement réussi d'une architecture Big Data moderne combinant Kafka, Cassandra, LightGBM et Streamlit.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✅ Double Canal d'Acquisition : Intégration transparente de l'API eBay REST et du moteur de Web Scraping pour capturer la réalité du marché.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✅ Rentabilité Économique Prouvée : Détection prouvée d'opportunités d'arbitrage à plus de 35% de marge nette réelle sécurisée.</a:t>
            </a:r>
          </a:p>
          <a:p>
            <a:pPr>
              <a:spcBef>
                <a:spcPts val="1200"/>
              </a:spcBef>
              <a:defRPr sz="1150">
                <a:solidFill>
                  <a:srgbClr val="CBD5E1"/>
                </a:solidFill>
                <a:latin typeface="Calibri"/>
              </a:defRPr>
            </a:pPr>
            <a:r>
              <a:t>✅ Industrialisation &amp; DevOps : Chaîne CI/CD automatisée, conteneurisation Docker totale et conformité aux standards de production.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508760"/>
            <a:ext cx="5257800" cy="4754880"/>
          </a:xfrm>
          <a:prstGeom prst="roundRect">
            <a:avLst/>
          </a:prstGeom>
          <a:solidFill>
            <a:srgbClr val="1A2233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5257800" cy="73152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83080"/>
            <a:ext cx="4709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Calibri"/>
              </a:defRPr>
            </a:pPr>
            <a:r>
              <a:t>Perspectives d'Évolution &amp; Roadmap V2</a:t>
            </a:r>
          </a:p>
          <a:p>
            <a:pPr>
              <a:spcBef>
                <a:spcPts val="1000"/>
              </a:spcBef>
              <a:defRPr sz="1250" b="1">
                <a:solidFill>
                  <a:srgbClr val="38BDF8"/>
                </a:solidFill>
                <a:latin typeface="Calibri"/>
              </a:defRPr>
            </a:pPr>
            <a:r>
              <a:t>🌐 1. Arbitrage Multi-Marchés (Cross-Platform)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Extension des connecteurs vers Amazon Seller Central, Walmart Marketplace et Shopify pour réaliser de l'arbitrage croisé automatique.</a:t>
            </a:r>
          </a:p>
          <a:p>
            <a:pPr>
              <a:spcBef>
                <a:spcPts val="1000"/>
              </a:spcBef>
              <a:defRPr sz="1250" b="1">
                <a:solidFill>
                  <a:srgbClr val="38BDF8"/>
                </a:solidFill>
                <a:latin typeface="Calibri"/>
              </a:defRPr>
            </a:pPr>
            <a:r>
              <a:t>🤖 2. Exécution d'Ordres d'Achat Automatisée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Passage du trading assisté au trading algorithmique autonome : achat automatique dès que l'intervalle de confiance dépasse 95%.</a:t>
            </a:r>
          </a:p>
          <a:p>
            <a:pPr>
              <a:spcBef>
                <a:spcPts val="1000"/>
              </a:spcBef>
              <a:defRPr sz="1250" b="1">
                <a:solidFill>
                  <a:srgbClr val="38BDF8"/>
                </a:solidFill>
                <a:latin typeface="Calibri"/>
              </a:defRPr>
            </a:pPr>
            <a:r>
              <a:t>☁️ 3. Passage à l'Échelle Kubernetes &amp; Cloud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Déploiement sur cluster Kubernetes (EKS/GKE) avec auto-scaling des consommateurs Kafka selon la volatilité des flux de données.</a:t>
            </a:r>
          </a:p>
          <a:p>
            <a:pPr>
              <a:spcBef>
                <a:spcPts val="1000"/>
              </a:spcBef>
              <a:defRPr sz="1250" b="1">
                <a:solidFill>
                  <a:srgbClr val="38BDF8"/>
                </a:solidFill>
                <a:latin typeface="Calibri"/>
              </a:defRPr>
            </a:pPr>
            <a:r>
              <a:t>📷 4. Vision par Ordinateur (Computer Vision)</a:t>
            </a:r>
          </a:p>
          <a:p>
            <a:pPr>
              <a:spcBef>
                <a:spcPts val="200"/>
              </a:spcBef>
              <a:defRPr sz="1100">
                <a:solidFill>
                  <a:srgbClr val="CBD5E1"/>
                </a:solidFill>
                <a:latin typeface="Calibri"/>
              </a:defRPr>
            </a:pPr>
            <a:r>
              <a:t>Ajout d'un modèle de vision pour détecter automatiquement les défauts esthétiques ou rayures sur les photos des vendeurs.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